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645920"/>
            <a:ext cx="5943600" cy="5943600"/>
          </a:xfrm>
          <a:prstGeom prst="ellipse">
            <a:avLst/>
          </a:prstGeom>
          <a:solidFill>
            <a:srgbClr val="A6038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5943600"/>
            <a:ext cx="5486400" cy="5486400"/>
          </a:xfrm>
          <a:prstGeom prst="ellipse">
            <a:avLst/>
          </a:prstGeom>
          <a:solidFill>
            <a:srgbClr val="D92387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94360"/>
            <a:ext cx="2377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CASE STUDY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365760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Center Performance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658368" y="5806440"/>
            <a:ext cx="2834640" cy="1280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989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1.7M calls into executive decisions — Service Level, Efficiency, Agent Coaching, and Forecast Accuracy in one connected story.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745236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760780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74523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404872" y="745236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76" y="76078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80360" y="74523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169664" y="7452360"/>
            <a:ext cx="160020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76078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45152" y="74523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934456" y="7452360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760780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9944" y="7452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Missed Call Is a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Relationship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44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Meeting SLA?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needed one view to confirm Service Level against a 90% target — instantly, not at month-end.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36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Agents Overloaded?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across three projects made it slow to spot where staffing didn't match call volume.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626364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6428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the Forecast?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6812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Forecast vs Actual view, staffing decisions were reactive instead of planned.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 Full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Health.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90779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1.74M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Offered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28416" y="2743200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28416" y="290779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98.68%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28416" y="3520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Rate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16752" y="2743200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16752" y="290779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91.06%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16752" y="3520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1.74M calls offered against 1.72M handled — a 98.68% handling rate, with Service Level clearing the 90% SLA target at 91.06%.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48640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Offered vs Total Handled tracked side-by-side for instant gap detection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 Actual comparison across Feb–Apr exposes staffing mismatches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 line flags volume spikes for proactive scheduling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763524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7635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focus: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row + Forecast vs Actual bar chart + Daily Offered Calls trend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PERFORMANCE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Quality Is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 or Lost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384962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8529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89.86%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651760" y="28529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45152" y="2743200"/>
            <a:ext cx="384962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73752" y="28529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9.22s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56832" y="28529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Speed of Answer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and Handling Rate trends isolate the exact weeks performance dropped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Trend shows a sharp mid-March dip (36.27%) — a coaching or staffing signal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analysis proves ASA directly drags down Service Level as wait time rises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Rate held at 1.32% — a strong outcome despite volume peaks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763524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7635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focus: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Rate, Service Level &amp; Efficiency trends + ASA-vs-Service-Level scatter plot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Team Averages to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Accountability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3849624" cy="1234440"/>
          </a:xfrm>
          <a:prstGeom prst="roundRect">
            <a:avLst>
              <a:gd name="adj" fmla="val 7407"/>
            </a:avLst>
          </a:prstGeom>
          <a:solidFill>
            <a:srgbClr val="A6038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9923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9626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37160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Laila — 99.15% Efficiency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4645152" y="2788920"/>
            <a:ext cx="3849624" cy="1234440"/>
          </a:xfrm>
          <a:prstGeom prst="roundRect">
            <a:avLst>
              <a:gd name="adj" fmla="val 7407"/>
            </a:avLst>
          </a:prstGeom>
          <a:solidFill>
            <a:srgbClr val="0D0D0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99923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76672" y="29626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COACHING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76672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— 76.05% Efficiency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0080" y="443484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 (Calls Offered, Handled, Handling Rate) enables data-driven 1:1 reviews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priorities set automatically by ranking logic, not manual judgment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visibility across all 16 agents — Dina carried the highest volume at 176K calls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763524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68680" y="7635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focus: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by Agent, Service Level by Agent, ranked Agent Table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Revealed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38496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3081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Drove Abandonment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776472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carried peak call volume and the highest abandon rate of the quarter — the two are directly linked.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45152" y="2880360"/>
            <a:ext cx="38496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01184" y="3081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Corrected Course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901184" y="3776472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delivered the quarter's strongest Service Level and Efficiency — proof that staffing adjustments worked.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5394960"/>
            <a:ext cx="38496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6112" y="55961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Is the Lever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96112" y="6291072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and Service Level move in near-perfect inverse correlation — the one variable leadership can control directly.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45152" y="5394960"/>
            <a:ext cx="38496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01184" y="55961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A60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23-Point Coaching Gap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901184" y="6291072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and bottom agent efficiency differ by more than 23 points — a clear, addressable coaching opportunity.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Analysis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Action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D9238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25880" y="288036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forecasting models using March's volume miss as a calibration point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D9238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25880" y="374904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targeted coaching for agents below the 90% efficiency threshold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D9238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25880" y="46177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ASA alerts once wait time crosses the 10-second mark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rgbClr val="D92387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325880" y="54864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staffing ahead of confirmed peak-volume days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6355080"/>
            <a:ext cx="502920" cy="502920"/>
          </a:xfrm>
          <a:prstGeom prst="ellipse">
            <a:avLst/>
          </a:prstGeom>
          <a:solidFill>
            <a:srgbClr val="D9238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325880" y="63550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abandon rate drivers during high-ASA periods specifically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Accuracy,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Aesthetics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384962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03580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" y="34930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9536" y="3803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Fact_Calls linked to Dim_Agent, Dim_Date, Dim_Project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45152" y="2834640"/>
            <a:ext cx="384962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03580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64608" y="34930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64608" y="38039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Level, Efficiency, Handling Rate, ASA — dynamic by filter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4480560"/>
            <a:ext cx="384962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68172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9536" y="51389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59536" y="54498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merged multi-project call logs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645152" y="4480560"/>
            <a:ext cx="384962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681728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64608" y="51389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Navigation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864608" y="54498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Guided, button-driven page flow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40080" y="6126480"/>
            <a:ext cx="384962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6327648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59536" y="67848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Pages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59536" y="70957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detail without cluttering the main view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4645152" y="6126480"/>
            <a:ext cx="384962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6327648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864608" y="67848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4864608" y="70957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recalculate instantly across Agent, Month, Project slicers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A6038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6217920"/>
            <a:ext cx="5486400" cy="5486400"/>
          </a:xfrm>
          <a:prstGeom prst="ellipse">
            <a:avLst/>
          </a:prstGeom>
          <a:solidFill>
            <a:srgbClr val="D9238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50" kern="0" dirty="0">
                <a:solidFill>
                  <a:srgbClr val="D92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WHAT'S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Dashboards Answer Questions.</a:t>
            </a:r>
            <a:endParaRPr lang="en-US" sz="27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Ones Ask New Ones.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05840" y="4251960"/>
            <a:ext cx="7132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correlating ASA with Service Level uncovered a lever leadership wasn't tracking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ML-based predictive forecasting to replace static monthly targets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move to real-time streaming refresh for live floor management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6903720"/>
            <a:ext cx="6217920" cy="868680"/>
          </a:xfrm>
          <a:prstGeom prst="roundRect">
            <a:avLst>
              <a:gd name="adj" fmla="val 14737"/>
            </a:avLst>
          </a:prstGeom>
          <a:solidFill>
            <a:srgbClr val="D9238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71140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23160" y="6903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Data Analyst / BI Developer roles — let's talk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0520" y="8092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8641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Performance Dashboard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63840" y="8641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Center Performance Dashboard — LinkedIn Carousel</dc:title>
  <dc:subject>PptxGenJS Presentation</dc:subject>
  <dc:creator>Khaled</dc:creator>
  <cp:lastModifiedBy>Khaled</cp:lastModifiedBy>
  <cp:revision>1</cp:revision>
  <dcterms:created xsi:type="dcterms:W3CDTF">2026-07-06T12:02:51Z</dcterms:created>
  <dcterms:modified xsi:type="dcterms:W3CDTF">2026-07-06T12:02:51Z</dcterms:modified>
</cp:coreProperties>
</file>